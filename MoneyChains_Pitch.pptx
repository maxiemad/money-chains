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1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02A37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320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0.3</c:v>
                </c:pt>
                <c:pt idx="1">
                  <c:v>4</c:v>
                </c:pt>
                <c:pt idx="2">
                  <c:v>25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300" u="none">
                  <a:solidFill>
                    <a:srgbClr val="1320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5A6A8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A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-1097280"/>
            <a:ext cx="3108960" cy="3108960"/>
          </a:xfrm>
          <a:prstGeom prst="ellipse">
            <a:avLst/>
          </a:prstGeom>
          <a:solidFill>
            <a:srgbClr val="16264F"/>
          </a:solidFill>
          <a:ln/>
        </p:spPr>
      </p:sp>
      <p:sp>
        <p:nvSpPr>
          <p:cNvPr id="3" name="Shape 1"/>
          <p:cNvSpPr/>
          <p:nvPr/>
        </p:nvSpPr>
        <p:spPr>
          <a:xfrm>
            <a:off x="11338560" y="5120640"/>
            <a:ext cx="2560320" cy="2560320"/>
          </a:xfrm>
          <a:prstGeom prst="ellipse">
            <a:avLst/>
          </a:prstGeom>
          <a:solidFill>
            <a:srgbClr val="16264F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777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7D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PITCH  ·  CONFIDENTIAL  ·  2026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49808" y="169164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MoneyChains</a:t>
            </a:r>
            <a:endParaRPr lang="en-US" sz="6200" dirty="0"/>
          </a:p>
        </p:txBody>
      </p:sp>
      <p:sp>
        <p:nvSpPr>
          <p:cNvPr id="6" name="Text 4"/>
          <p:cNvSpPr/>
          <p:nvPr/>
        </p:nvSpPr>
        <p:spPr>
          <a:xfrm>
            <a:off x="822960" y="283464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i="1" dirty="0">
                <a:solidFill>
                  <a:srgbClr val="E8F0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</a:t>
            </a:r>
            <a:pPr indent="0" marL="0">
              <a:buNone/>
            </a:pPr>
            <a:r>
              <a:rPr lang="en-US" sz="2500" b="1" i="1" dirty="0">
                <a:solidFill>
                  <a:srgbClr val="27D8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“Zapier for making money online.”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822960" y="3611880"/>
            <a:ext cx="8961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proven income “chain,” connect your accounts securely, and our platform guides you end-to-end — create, publish, and track real revenue. 50+ templates. One dashboard.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5212080"/>
            <a:ext cx="2468880" cy="868680"/>
          </a:xfrm>
          <a:prstGeom prst="roundRect">
            <a:avLst>
              <a:gd name="adj" fmla="val 12632"/>
            </a:avLst>
          </a:prstGeom>
          <a:solidFill>
            <a:srgbClr val="16264F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" y="5458968"/>
            <a:ext cx="384048" cy="38404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00200" y="521208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566160" y="5212080"/>
            <a:ext cx="2468880" cy="868680"/>
          </a:xfrm>
          <a:prstGeom prst="roundRect">
            <a:avLst>
              <a:gd name="adj" fmla="val 12632"/>
            </a:avLst>
          </a:prstGeom>
          <a:solidFill>
            <a:srgbClr val="16264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2192" y="5458968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343400" y="521208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6309360" y="5212080"/>
            <a:ext cx="2468880" cy="868680"/>
          </a:xfrm>
          <a:prstGeom prst="roundRect">
            <a:avLst>
              <a:gd name="adj" fmla="val 12632"/>
            </a:avLst>
          </a:prstGeom>
          <a:solidFill>
            <a:srgbClr val="16264F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392" y="5458968"/>
            <a:ext cx="384048" cy="38404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086600" y="521208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A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0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People have the skills. They just can’t turn them into money.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3383280" cy="1508760"/>
          </a:xfrm>
          <a:prstGeom prst="roundRect">
            <a:avLst>
              <a:gd name="adj" fmla="val 6061"/>
            </a:avLst>
          </a:prstGeom>
          <a:solidFill>
            <a:srgbClr val="F4F7FB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193852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2A3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Millions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051560" y="2578608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code, write, design,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— but earn ₹0 from it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480560" y="1783080"/>
            <a:ext cx="3383280" cy="1508760"/>
          </a:xfrm>
          <a:prstGeom prst="roundRect">
            <a:avLst>
              <a:gd name="adj" fmla="val 6061"/>
            </a:avLst>
          </a:prstGeom>
          <a:solidFill>
            <a:srgbClr val="F4F7FB"/>
          </a:solidFill>
          <a:ln/>
        </p:spPr>
      </p:sp>
      <p:sp>
        <p:nvSpPr>
          <p:cNvPr id="8" name="Text 6"/>
          <p:cNvSpPr/>
          <p:nvPr/>
        </p:nvSpPr>
        <p:spPr>
          <a:xfrm>
            <a:off x="4709160" y="193852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2A3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6+ tools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4709160" y="2578608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juggle for one income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(Canva, Pinterest…)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38160" y="1783080"/>
            <a:ext cx="3383280" cy="1508760"/>
          </a:xfrm>
          <a:prstGeom prst="roundRect">
            <a:avLst>
              <a:gd name="adj" fmla="val 6061"/>
            </a:avLst>
          </a:prstGeom>
          <a:solidFill>
            <a:srgbClr val="F4F7FB"/>
          </a:solidFill>
          <a:ln/>
        </p:spPr>
      </p:sp>
      <p:sp>
        <p:nvSpPr>
          <p:cNvPr id="11" name="Text 9"/>
          <p:cNvSpPr/>
          <p:nvPr/>
        </p:nvSpPr>
        <p:spPr>
          <a:xfrm>
            <a:off x="8366760" y="193852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2A3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~3%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8366760" y="2578608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completion — info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doesn’t create income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3611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happens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2960" y="4023360"/>
            <a:ext cx="10424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path from “I have a skill” to “I earn” is a confusing maze — nobody shows the exact steps.</a:t>
            </a:r>
            <a:endParaRPr lang="en-US" sz="1500" dirty="0"/>
          </a:p>
          <a:p>
            <a:pPr marL="177800" indent="-1778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 don’t talk to each other; you stitch everything by hand and give up halfway.</a:t>
            </a:r>
            <a:endParaRPr lang="en-US" sz="1500" dirty="0"/>
          </a:p>
          <a:p>
            <a:pPr marL="177800" indent="-1778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“Make money online” advice is generic, hype-filled, and full of scams — trust is broken.</a:t>
            </a:r>
            <a:endParaRPr lang="en-US" sz="1500" dirty="0"/>
          </a:p>
          <a:p>
            <a:pPr marL="177800" indent="-1778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capable people stay stuck at the starting line, earning nothing.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2960" y="6419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MoneyChains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15568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A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0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was impossible 3 years ago. Today it’s buildable.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3337560" cy="4023360"/>
          </a:xfrm>
          <a:prstGeom prst="roundRect">
            <a:avLst>
              <a:gd name="adj" fmla="val 2740"/>
            </a:avLst>
          </a:prstGeom>
          <a:solidFill>
            <a:srgbClr val="0E1A38"/>
          </a:solidFill>
          <a:ln/>
          <a:effectLst>
            <a:outerShdw sx="100000" sy="100000" kx="0" ky="0" algn="bl" rotWithShape="0" blurRad="114300" dist="38100" dir="5400000">
              <a:srgbClr val="0E1A38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43000" y="2194560"/>
            <a:ext cx="777240" cy="777240"/>
          </a:xfrm>
          <a:prstGeom prst="ellipse">
            <a:avLst/>
          </a:prstGeom>
          <a:solidFill>
            <a:srgbClr val="16264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2456" y="2414016"/>
            <a:ext cx="338328" cy="3383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474720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6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1143000" y="315468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27D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makes creation instant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143000" y="3977640"/>
            <a:ext cx="2743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posts, pins, articles, scripts used to need a human for every step. AI now does the heavy creative work cheaply — the missing piece.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4434840" y="1828800"/>
            <a:ext cx="3337560" cy="4023360"/>
          </a:xfrm>
          <a:prstGeom prst="roundRect">
            <a:avLst>
              <a:gd name="adj" fmla="val 2740"/>
            </a:avLst>
          </a:prstGeom>
          <a:solidFill>
            <a:srgbClr val="0E1A38"/>
          </a:solidFill>
          <a:ln/>
          <a:effectLst>
            <a:outerShdw sx="100000" sy="100000" kx="0" ky="0" algn="bl" rotWithShape="0" blurRad="114300" dist="38100" dir="5400000">
              <a:srgbClr val="0E1A38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54880" y="2194560"/>
            <a:ext cx="777240" cy="777240"/>
          </a:xfrm>
          <a:prstGeom prst="ellipse">
            <a:avLst/>
          </a:prstGeom>
          <a:solidFill>
            <a:srgbClr val="16264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4336" y="2414016"/>
            <a:ext cx="338328" cy="33832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086600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6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000" dirty="0"/>
          </a:p>
        </p:txBody>
      </p:sp>
      <p:sp>
        <p:nvSpPr>
          <p:cNvPr id="14" name="Text 10"/>
          <p:cNvSpPr/>
          <p:nvPr/>
        </p:nvSpPr>
        <p:spPr>
          <a:xfrm>
            <a:off x="4754880" y="315468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27D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make platforms connectable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4754880" y="3977640"/>
            <a:ext cx="2743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+ no-code automation let a small team safely wire 50+ platforms together — no enterprise budget needed.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8046720" y="1828800"/>
            <a:ext cx="3337560" cy="4023360"/>
          </a:xfrm>
          <a:prstGeom prst="roundRect">
            <a:avLst>
              <a:gd name="adj" fmla="val 2740"/>
            </a:avLst>
          </a:prstGeom>
          <a:solidFill>
            <a:srgbClr val="0E1A38"/>
          </a:solidFill>
          <a:ln/>
          <a:effectLst>
            <a:outerShdw sx="100000" sy="100000" kx="0" ky="0" algn="bl" rotWithShape="0" blurRad="114300" dist="38100" dir="5400000">
              <a:srgbClr val="0E1A38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66760" y="2194560"/>
            <a:ext cx="777240" cy="777240"/>
          </a:xfrm>
          <a:prstGeom prst="ellipse">
            <a:avLst/>
          </a:prstGeom>
          <a:solidFill>
            <a:srgbClr val="16264F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6216" y="2414016"/>
            <a:ext cx="338328" cy="33832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698480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6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000" dirty="0"/>
          </a:p>
        </p:txBody>
      </p:sp>
      <p:sp>
        <p:nvSpPr>
          <p:cNvPr id="20" name="Text 15"/>
          <p:cNvSpPr/>
          <p:nvPr/>
        </p:nvSpPr>
        <p:spPr>
          <a:xfrm>
            <a:off x="8366760" y="315468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27D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 economy is exploding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8366760" y="3977640"/>
            <a:ext cx="2743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Hundreds of millions want online income. Demand is at an all-time high, and the tools to serve them finally exist.</a:t>
            </a:r>
            <a:endParaRPr lang="en-US" sz="1350" dirty="0"/>
          </a:p>
        </p:txBody>
      </p:sp>
      <p:sp>
        <p:nvSpPr>
          <p:cNvPr id="22" name="Text 17"/>
          <p:cNvSpPr/>
          <p:nvPr/>
        </p:nvSpPr>
        <p:spPr>
          <a:xfrm>
            <a:off x="822960" y="6419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MoneyChains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15568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7D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96112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Don’t teach people to make money. Hand them a system that already works.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201168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MoneyChains is a platform of pre-built </a:t>
            </a:r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27D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“money chains”</a:t>
            </a:r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templates that connect several platforms into one working income engine. You pick a chain, connect your accounts, and we guide you to real revenue.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3108960"/>
            <a:ext cx="3337560" cy="2286000"/>
          </a:xfrm>
          <a:prstGeom prst="roundRect">
            <a:avLst>
              <a:gd name="adj" fmla="val 4000"/>
            </a:avLst>
          </a:prstGeom>
          <a:solidFill>
            <a:srgbClr val="16264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342900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40690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D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Zapier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143000" y="4526280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the templates make you money, not just automate tasks.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434840" y="3108960"/>
            <a:ext cx="3337560" cy="2286000"/>
          </a:xfrm>
          <a:prstGeom prst="roundRect">
            <a:avLst>
              <a:gd name="adj" fmla="val 4000"/>
            </a:avLst>
          </a:prstGeom>
          <a:solidFill>
            <a:srgbClr val="16264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3429000"/>
            <a:ext cx="502920" cy="5029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754880" y="40690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D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a video game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4754880" y="4526280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level (chain), play the steps, watch your score (₹) go up.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8046720" y="3108960"/>
            <a:ext cx="3337560" cy="2286000"/>
          </a:xfrm>
          <a:prstGeom prst="roundRect">
            <a:avLst>
              <a:gd name="adj" fmla="val 4000"/>
            </a:avLst>
          </a:prstGeom>
          <a:solidFill>
            <a:srgbClr val="16264F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3429000"/>
            <a:ext cx="502920" cy="5029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366760" y="40690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D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a GPS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8366760" y="4526280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tells you the exact next step and reroutes when you’re stuck.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822960" y="566928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7D8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don’t sell information. We sell execution + results.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22960" y="6419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E8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MoneyChains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1115568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A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0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layers. The connection is just the pipe.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645920"/>
            <a:ext cx="1920240" cy="594360"/>
          </a:xfrm>
          <a:prstGeom prst="roundRect">
            <a:avLst>
              <a:gd name="adj" fmla="val 15385"/>
            </a:avLst>
          </a:prstGeom>
          <a:solidFill>
            <a:srgbClr val="F4F7FB"/>
          </a:solidFill>
          <a:ln w="12700">
            <a:solidFill>
              <a:srgbClr val="DCE4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459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2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Pinterest</a:t>
            </a:r>
            <a:endParaRPr lang="en-US" sz="1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61488" y="1792224"/>
            <a:ext cx="292608" cy="29260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035808" y="1645920"/>
            <a:ext cx="1920240" cy="594360"/>
          </a:xfrm>
          <a:prstGeom prst="roundRect">
            <a:avLst>
              <a:gd name="adj" fmla="val 15385"/>
            </a:avLst>
          </a:prstGeom>
          <a:solidFill>
            <a:srgbClr val="F4F7FB"/>
          </a:solidFill>
          <a:ln w="12700">
            <a:solidFill>
              <a:srgbClr val="DCE4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035808" y="16459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2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</a:t>
            </a:r>
            <a:endParaRPr lang="en-US" sz="14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4336" y="1792224"/>
            <a:ext cx="292608" cy="29260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248656" y="1645920"/>
            <a:ext cx="1920240" cy="594360"/>
          </a:xfrm>
          <a:prstGeom prst="roundRect">
            <a:avLst>
              <a:gd name="adj" fmla="val 15385"/>
            </a:avLst>
          </a:prstGeom>
          <a:solidFill>
            <a:srgbClr val="F4F7FB"/>
          </a:solidFill>
          <a:ln w="12700">
            <a:solidFill>
              <a:srgbClr val="DCE4F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248656" y="16459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2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</a:t>
            </a:r>
            <a:endParaRPr lang="en-US" sz="14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7184" y="1792224"/>
            <a:ext cx="292608" cy="292608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7461504" y="1645920"/>
            <a:ext cx="1920240" cy="594360"/>
          </a:xfrm>
          <a:prstGeom prst="roundRect">
            <a:avLst>
              <a:gd name="adj" fmla="val 15385"/>
            </a:avLst>
          </a:prstGeom>
          <a:solidFill>
            <a:srgbClr val="F4F7FB"/>
          </a:solidFill>
          <a:ln w="12700">
            <a:solidFill>
              <a:srgbClr val="DCE4F0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7461504" y="16459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2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4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0032" y="1792224"/>
            <a:ext cx="292608" cy="292608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9674352" y="1645920"/>
            <a:ext cx="1920240" cy="594360"/>
          </a:xfrm>
          <a:prstGeom prst="roundRect">
            <a:avLst>
              <a:gd name="adj" fmla="val 15385"/>
            </a:avLst>
          </a:prstGeom>
          <a:solidFill>
            <a:srgbClr val="02A37A"/>
          </a:solidFill>
          <a:ln w="12700">
            <a:solidFill>
              <a:srgbClr val="02A37A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9674352" y="16459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 Earned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822960" y="23042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one of 50+ ready-made chains</a:t>
            </a:r>
            <a:endParaRPr lang="en-US" sz="1150" dirty="0"/>
          </a:p>
        </p:txBody>
      </p:sp>
      <p:sp>
        <p:nvSpPr>
          <p:cNvPr id="19" name="Shape 13"/>
          <p:cNvSpPr/>
          <p:nvPr/>
        </p:nvSpPr>
        <p:spPr>
          <a:xfrm>
            <a:off x="822960" y="2880360"/>
            <a:ext cx="3429000" cy="3154680"/>
          </a:xfrm>
          <a:prstGeom prst="roundRect">
            <a:avLst>
              <a:gd name="adj" fmla="val 2899"/>
            </a:avLst>
          </a:prstGeom>
          <a:solidFill>
            <a:srgbClr val="0E1A38"/>
          </a:solidFill>
          <a:ln/>
          <a:effectLst>
            <a:outerShdw sx="100000" sy="100000" kx="0" ky="0" algn="bl" rotWithShape="0" blurRad="114300" dist="38100" dir="5400000">
              <a:srgbClr val="0E1A38">
                <a:alpha val="12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1143000" y="3200400"/>
            <a:ext cx="731520" cy="731520"/>
          </a:xfrm>
          <a:prstGeom prst="ellipse">
            <a:avLst/>
          </a:prstGeom>
          <a:solidFill>
            <a:srgbClr val="02A37A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3312" y="3410712"/>
            <a:ext cx="310896" cy="310896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143000" y="406908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27D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CONNECT</a:t>
            </a:r>
            <a:endParaRPr lang="en-US" sz="1600" dirty="0"/>
          </a:p>
        </p:txBody>
      </p:sp>
      <p:sp>
        <p:nvSpPr>
          <p:cNvPr id="23" name="Text 16"/>
          <p:cNvSpPr/>
          <p:nvPr/>
        </p:nvSpPr>
        <p:spPr>
          <a:xfrm>
            <a:off x="1143000" y="4480560"/>
            <a:ext cx="2788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Securely link your own accounts via OAuth (never passwords). Auto-publish where the API allows; guided-manual where it doesn’t.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1143000" y="560527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8FA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stakes — anyone can copy</a:t>
            </a:r>
            <a:endParaRPr lang="en-US" sz="1050" dirty="0"/>
          </a:p>
        </p:txBody>
      </p:sp>
      <p:sp>
        <p:nvSpPr>
          <p:cNvPr id="25" name="Shape 18"/>
          <p:cNvSpPr/>
          <p:nvPr/>
        </p:nvSpPr>
        <p:spPr>
          <a:xfrm>
            <a:off x="4636008" y="2880360"/>
            <a:ext cx="3429000" cy="3154680"/>
          </a:xfrm>
          <a:prstGeom prst="roundRect">
            <a:avLst>
              <a:gd name="adj" fmla="val 2899"/>
            </a:avLst>
          </a:prstGeom>
          <a:solidFill>
            <a:srgbClr val="0E1A38"/>
          </a:solidFill>
          <a:ln/>
          <a:effectLst>
            <a:outerShdw sx="100000" sy="100000" kx="0" ky="0" algn="bl" rotWithShape="0" blurRad="114300" dist="38100" dir="5400000">
              <a:srgbClr val="0E1A38">
                <a:alpha val="12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4956048" y="3200400"/>
            <a:ext cx="731520" cy="731520"/>
          </a:xfrm>
          <a:prstGeom prst="ellipse">
            <a:avLst/>
          </a:prstGeom>
          <a:solidFill>
            <a:srgbClr val="02A37A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66360" y="3410712"/>
            <a:ext cx="310896" cy="310896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4956048" y="406908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27D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GUIDE</a:t>
            </a:r>
            <a:endParaRPr lang="en-US" sz="1600" dirty="0"/>
          </a:p>
        </p:txBody>
      </p:sp>
      <p:sp>
        <p:nvSpPr>
          <p:cNvPr id="29" name="Text 21"/>
          <p:cNvSpPr/>
          <p:nvPr/>
        </p:nvSpPr>
        <p:spPr>
          <a:xfrm>
            <a:off x="4956048" y="4480560"/>
            <a:ext cx="2788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step-by-step flow walks you through the work. Stuck somewhere? Contextual help unblocks you at exactly that step.</a:t>
            </a:r>
            <a:endParaRPr lang="en-US" sz="1300" dirty="0"/>
          </a:p>
        </p:txBody>
      </p:sp>
      <p:sp>
        <p:nvSpPr>
          <p:cNvPr id="30" name="Text 22"/>
          <p:cNvSpPr/>
          <p:nvPr/>
        </p:nvSpPr>
        <p:spPr>
          <a:xfrm>
            <a:off x="4956048" y="560527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8FA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experience — why people stay</a:t>
            </a:r>
            <a:endParaRPr lang="en-US" sz="1050" dirty="0"/>
          </a:p>
        </p:txBody>
      </p:sp>
      <p:sp>
        <p:nvSpPr>
          <p:cNvPr id="31" name="Shape 23"/>
          <p:cNvSpPr/>
          <p:nvPr/>
        </p:nvSpPr>
        <p:spPr>
          <a:xfrm>
            <a:off x="8449056" y="2880360"/>
            <a:ext cx="3429000" cy="3154680"/>
          </a:xfrm>
          <a:prstGeom prst="roundRect">
            <a:avLst>
              <a:gd name="adj" fmla="val 2899"/>
            </a:avLst>
          </a:prstGeom>
          <a:solidFill>
            <a:srgbClr val="0E1A38"/>
          </a:solidFill>
          <a:ln/>
          <a:effectLst>
            <a:outerShdw sx="100000" sy="100000" kx="0" ky="0" algn="bl" rotWithShape="0" blurRad="114300" dist="38100" dir="5400000">
              <a:srgbClr val="0E1A38">
                <a:alpha val="12000"/>
              </a:srgbClr>
            </a:outerShdw>
          </a:effectLst>
        </p:spPr>
      </p:sp>
      <p:sp>
        <p:nvSpPr>
          <p:cNvPr id="32" name="Shape 24"/>
          <p:cNvSpPr/>
          <p:nvPr/>
        </p:nvSpPr>
        <p:spPr>
          <a:xfrm>
            <a:off x="8769096" y="3200400"/>
            <a:ext cx="731520" cy="731520"/>
          </a:xfrm>
          <a:prstGeom prst="ellipse">
            <a:avLst/>
          </a:prstGeom>
          <a:solidFill>
            <a:srgbClr val="02A37A"/>
          </a:solidFill>
          <a:ln/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79408" y="3410712"/>
            <a:ext cx="310896" cy="310896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8769096" y="406908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27D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TRACK</a:t>
            </a:r>
            <a:endParaRPr lang="en-US" sz="1600" dirty="0"/>
          </a:p>
        </p:txBody>
      </p:sp>
      <p:sp>
        <p:nvSpPr>
          <p:cNvPr id="35" name="Text 26"/>
          <p:cNvSpPr/>
          <p:nvPr/>
        </p:nvSpPr>
        <p:spPr>
          <a:xfrm>
            <a:off x="8769096" y="4480560"/>
            <a:ext cx="2788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link is tagged. One dashboard shows clicks → sales → ₹ per chain — your motivation, and our secret data.</a:t>
            </a:r>
            <a:endParaRPr lang="en-US" sz="1300" dirty="0"/>
          </a:p>
        </p:txBody>
      </p:sp>
      <p:sp>
        <p:nvSpPr>
          <p:cNvPr id="36" name="Text 27"/>
          <p:cNvSpPr/>
          <p:nvPr/>
        </p:nvSpPr>
        <p:spPr>
          <a:xfrm>
            <a:off x="8769096" y="560527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8FA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moat — our compounding edge</a:t>
            </a:r>
            <a:endParaRPr lang="en-US" sz="1050" dirty="0"/>
          </a:p>
        </p:txBody>
      </p:sp>
      <p:sp>
        <p:nvSpPr>
          <p:cNvPr id="37" name="Text 28"/>
          <p:cNvSpPr/>
          <p:nvPr/>
        </p:nvSpPr>
        <p:spPr>
          <a:xfrm>
            <a:off x="822960" y="6419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MoneyChains</a:t>
            </a:r>
            <a:endParaRPr lang="en-US" sz="900" dirty="0"/>
          </a:p>
        </p:txBody>
      </p:sp>
      <p:sp>
        <p:nvSpPr>
          <p:cNvPr id="38" name="Text 29"/>
          <p:cNvSpPr/>
          <p:nvPr/>
        </p:nvSpPr>
        <p:spPr>
          <a:xfrm>
            <a:off x="1115568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A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WALKTHROUGH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0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a user actually does — five simple steps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1993392" cy="3108960"/>
          </a:xfrm>
          <a:prstGeom prst="roundRect">
            <a:avLst>
              <a:gd name="adj" fmla="val 4587"/>
            </a:avLst>
          </a:prstGeom>
          <a:solidFill>
            <a:srgbClr val="F4F7FB"/>
          </a:solidFill>
          <a:ln/>
        </p:spPr>
      </p:sp>
      <p:sp>
        <p:nvSpPr>
          <p:cNvPr id="5" name="Shape 3"/>
          <p:cNvSpPr/>
          <p:nvPr/>
        </p:nvSpPr>
        <p:spPr>
          <a:xfrm>
            <a:off x="1435608" y="2331720"/>
            <a:ext cx="768096" cy="768096"/>
          </a:xfrm>
          <a:prstGeom prst="ellipse">
            <a:avLst/>
          </a:prstGeom>
          <a:solidFill>
            <a:srgbClr val="0E1A3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27632" y="2523744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24612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960120" y="3520440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2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chain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87552" y="4023360"/>
            <a:ext cx="16642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50+ templates, choose one that fits your skill &amp; time.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980944" y="2011680"/>
            <a:ext cx="1993392" cy="3108960"/>
          </a:xfrm>
          <a:prstGeom prst="roundRect">
            <a:avLst>
              <a:gd name="adj" fmla="val 4587"/>
            </a:avLst>
          </a:prstGeom>
          <a:solidFill>
            <a:srgbClr val="F4F7FB"/>
          </a:solidFill>
          <a:ln/>
        </p:spPr>
      </p:sp>
      <p:sp>
        <p:nvSpPr>
          <p:cNvPr id="11" name="Shape 8"/>
          <p:cNvSpPr/>
          <p:nvPr/>
        </p:nvSpPr>
        <p:spPr>
          <a:xfrm>
            <a:off x="3593592" y="2331720"/>
            <a:ext cx="768096" cy="768096"/>
          </a:xfrm>
          <a:prstGeom prst="ellipse">
            <a:avLst/>
          </a:prstGeom>
          <a:solidFill>
            <a:srgbClr val="0E1A38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5616" y="2523744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980944" y="324612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3118104" y="3520440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2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145536" y="4023360"/>
            <a:ext cx="16642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link your accounts — secure, no passwords, 2FA-safe.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138928" y="2011680"/>
            <a:ext cx="1993392" cy="3108960"/>
          </a:xfrm>
          <a:prstGeom prst="roundRect">
            <a:avLst>
              <a:gd name="adj" fmla="val 4587"/>
            </a:avLst>
          </a:prstGeom>
          <a:solidFill>
            <a:srgbClr val="F4F7FB"/>
          </a:solidFill>
          <a:ln/>
        </p:spPr>
      </p:sp>
      <p:sp>
        <p:nvSpPr>
          <p:cNvPr id="17" name="Shape 13"/>
          <p:cNvSpPr/>
          <p:nvPr/>
        </p:nvSpPr>
        <p:spPr>
          <a:xfrm>
            <a:off x="5751576" y="2331720"/>
            <a:ext cx="768096" cy="768096"/>
          </a:xfrm>
          <a:prstGeom prst="ellipse">
            <a:avLst/>
          </a:prstGeom>
          <a:solidFill>
            <a:srgbClr val="0E1A38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2523744"/>
            <a:ext cx="384048" cy="38404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138928" y="324612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5276088" y="3520440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2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5303520" y="4023360"/>
            <a:ext cx="16642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helps generate the content; you approve and tweak.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7296912" y="2011680"/>
            <a:ext cx="1993392" cy="3108960"/>
          </a:xfrm>
          <a:prstGeom prst="roundRect">
            <a:avLst>
              <a:gd name="adj" fmla="val 4587"/>
            </a:avLst>
          </a:prstGeom>
          <a:solidFill>
            <a:srgbClr val="F4F7FB"/>
          </a:solidFill>
          <a:ln/>
        </p:spPr>
      </p:sp>
      <p:sp>
        <p:nvSpPr>
          <p:cNvPr id="23" name="Shape 18"/>
          <p:cNvSpPr/>
          <p:nvPr/>
        </p:nvSpPr>
        <p:spPr>
          <a:xfrm>
            <a:off x="7909560" y="2331720"/>
            <a:ext cx="768096" cy="768096"/>
          </a:xfrm>
          <a:prstGeom prst="ellipse">
            <a:avLst/>
          </a:prstGeom>
          <a:solidFill>
            <a:srgbClr val="0E1A38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1584" y="2523744"/>
            <a:ext cx="384048" cy="38404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296912" y="324612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050" dirty="0"/>
          </a:p>
        </p:txBody>
      </p:sp>
      <p:sp>
        <p:nvSpPr>
          <p:cNvPr id="26" name="Text 20"/>
          <p:cNvSpPr/>
          <p:nvPr/>
        </p:nvSpPr>
        <p:spPr>
          <a:xfrm>
            <a:off x="7434072" y="3520440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2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7461504" y="4023360"/>
            <a:ext cx="16642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post across the connected platforms, with your links inside.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9454896" y="2011680"/>
            <a:ext cx="1993392" cy="3108960"/>
          </a:xfrm>
          <a:prstGeom prst="roundRect">
            <a:avLst>
              <a:gd name="adj" fmla="val 4587"/>
            </a:avLst>
          </a:prstGeom>
          <a:solidFill>
            <a:srgbClr val="02A37A"/>
          </a:solidFill>
          <a:ln/>
        </p:spPr>
      </p:sp>
      <p:sp>
        <p:nvSpPr>
          <p:cNvPr id="29" name="Shape 23"/>
          <p:cNvSpPr/>
          <p:nvPr/>
        </p:nvSpPr>
        <p:spPr>
          <a:xfrm>
            <a:off x="10067544" y="2331720"/>
            <a:ext cx="768096" cy="768096"/>
          </a:xfrm>
          <a:prstGeom prst="ellipse">
            <a:avLst/>
          </a:prstGeom>
          <a:solidFill>
            <a:srgbClr val="0E1A38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59568" y="2523744"/>
            <a:ext cx="384048" cy="384048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9454896" y="324612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D6F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050" dirty="0"/>
          </a:p>
        </p:txBody>
      </p:sp>
      <p:sp>
        <p:nvSpPr>
          <p:cNvPr id="32" name="Text 25"/>
          <p:cNvSpPr/>
          <p:nvPr/>
        </p:nvSpPr>
        <p:spPr>
          <a:xfrm>
            <a:off x="9592056" y="3520440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&amp; earn</a:t>
            </a:r>
            <a:endParaRPr lang="en-US" sz="1600" dirty="0"/>
          </a:p>
        </p:txBody>
      </p:sp>
      <p:sp>
        <p:nvSpPr>
          <p:cNvPr id="33" name="Text 26"/>
          <p:cNvSpPr/>
          <p:nvPr/>
        </p:nvSpPr>
        <p:spPr>
          <a:xfrm>
            <a:off x="9619488" y="4023360"/>
            <a:ext cx="16642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AF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clicks → sales → ₹ in one live dashboard.</a:t>
            </a:r>
            <a:endParaRPr lang="en-US" sz="1200" dirty="0"/>
          </a:p>
        </p:txBody>
      </p:sp>
      <p:sp>
        <p:nvSpPr>
          <p:cNvPr id="34" name="Text 27"/>
          <p:cNvSpPr/>
          <p:nvPr/>
        </p:nvSpPr>
        <p:spPr>
          <a:xfrm>
            <a:off x="822960" y="548640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2A3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sign-up to first published chain in under an hour — no tech skills required.</a:t>
            </a:r>
            <a:endParaRPr lang="en-US" sz="1500" dirty="0"/>
          </a:p>
        </p:txBody>
      </p:sp>
      <p:sp>
        <p:nvSpPr>
          <p:cNvPr id="35" name="Text 28"/>
          <p:cNvSpPr/>
          <p:nvPr/>
        </p:nvSpPr>
        <p:spPr>
          <a:xfrm>
            <a:off x="822960" y="6419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MoneyChains</a:t>
            </a:r>
            <a:endParaRPr lang="en-US" sz="900" dirty="0"/>
          </a:p>
        </p:txBody>
      </p:sp>
      <p:sp>
        <p:nvSpPr>
          <p:cNvPr id="36" name="Text 29"/>
          <p:cNvSpPr/>
          <p:nvPr/>
        </p:nvSpPr>
        <p:spPr>
          <a:xfrm>
            <a:off x="1115568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A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TEMPLATE LIBRARY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0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50+ money chains, grouped by how you earn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5120640" cy="1188720"/>
          </a:xfrm>
          <a:prstGeom prst="roundRect">
            <a:avLst>
              <a:gd name="adj" fmla="val 6154"/>
            </a:avLst>
          </a:prstGeom>
          <a:solidFill>
            <a:srgbClr val="F4F7FB"/>
          </a:solidFill>
          <a:ln/>
        </p:spPr>
      </p:sp>
      <p:sp>
        <p:nvSpPr>
          <p:cNvPr id="5" name="Shape 3"/>
          <p:cNvSpPr/>
          <p:nvPr/>
        </p:nvSpPr>
        <p:spPr>
          <a:xfrm>
            <a:off x="1097280" y="2176272"/>
            <a:ext cx="457200" cy="457200"/>
          </a:xfrm>
          <a:prstGeom prst="ellipse">
            <a:avLst/>
          </a:prstGeom>
          <a:solidFill>
            <a:srgbClr val="0E1A3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7008" y="2286000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198424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Affiliate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737360" y="2350008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Pinterest→Blog→Amazon, deal sites, review chains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17920" y="1783080"/>
            <a:ext cx="5120640" cy="1188720"/>
          </a:xfrm>
          <a:prstGeom prst="roundRect">
            <a:avLst>
              <a:gd name="adj" fmla="val 6154"/>
            </a:avLst>
          </a:prstGeom>
          <a:solidFill>
            <a:srgbClr val="F4F7FB"/>
          </a:solidFill>
          <a:ln/>
        </p:spPr>
      </p:sp>
      <p:sp>
        <p:nvSpPr>
          <p:cNvPr id="10" name="Shape 7"/>
          <p:cNvSpPr/>
          <p:nvPr/>
        </p:nvSpPr>
        <p:spPr>
          <a:xfrm>
            <a:off x="6492240" y="2176272"/>
            <a:ext cx="457200" cy="457200"/>
          </a:xfrm>
          <a:prstGeom prst="ellipse">
            <a:avLst/>
          </a:prstGeom>
          <a:solidFill>
            <a:srgbClr val="0E1A3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1968" y="2286000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32320" y="198424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&amp; video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132320" y="2350008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Faceless YouTube/TikTok/Reels → ad rev + affiliate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22960" y="3154680"/>
            <a:ext cx="5120640" cy="1188720"/>
          </a:xfrm>
          <a:prstGeom prst="roundRect">
            <a:avLst>
              <a:gd name="adj" fmla="val 6154"/>
            </a:avLst>
          </a:prstGeom>
          <a:solidFill>
            <a:srgbClr val="F4F7FB"/>
          </a:solidFill>
          <a:ln/>
        </p:spPr>
      </p:sp>
      <p:sp>
        <p:nvSpPr>
          <p:cNvPr id="15" name="Shape 11"/>
          <p:cNvSpPr/>
          <p:nvPr/>
        </p:nvSpPr>
        <p:spPr>
          <a:xfrm>
            <a:off x="1097280" y="3547872"/>
            <a:ext cx="457200" cy="457200"/>
          </a:xfrm>
          <a:prstGeom prst="ellipse">
            <a:avLst/>
          </a:prstGeom>
          <a:solidFill>
            <a:srgbClr val="0E1A38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3657600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37360" y="335584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products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737360" y="3721608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/ e-book / templates → Gumroad, email funnel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217920" y="3154680"/>
            <a:ext cx="5120640" cy="1188720"/>
          </a:xfrm>
          <a:prstGeom prst="roundRect">
            <a:avLst>
              <a:gd name="adj" fmla="val 6154"/>
            </a:avLst>
          </a:prstGeom>
          <a:solidFill>
            <a:srgbClr val="F4F7FB"/>
          </a:solidFill>
          <a:ln/>
        </p:spPr>
      </p:sp>
      <p:sp>
        <p:nvSpPr>
          <p:cNvPr id="20" name="Shape 15"/>
          <p:cNvSpPr/>
          <p:nvPr/>
        </p:nvSpPr>
        <p:spPr>
          <a:xfrm>
            <a:off x="6492240" y="3547872"/>
            <a:ext cx="457200" cy="457200"/>
          </a:xfrm>
          <a:prstGeom prst="ellipse">
            <a:avLst/>
          </a:prstGeom>
          <a:solidFill>
            <a:srgbClr val="0E1A38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1968" y="3657600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32320" y="335584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Newsletter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7132320" y="3721608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list → sponsors + paid subs + affiliate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822960" y="4526280"/>
            <a:ext cx="5120640" cy="1188720"/>
          </a:xfrm>
          <a:prstGeom prst="roundRect">
            <a:avLst>
              <a:gd name="adj" fmla="val 6154"/>
            </a:avLst>
          </a:prstGeom>
          <a:solidFill>
            <a:srgbClr val="F4F7FB"/>
          </a:solidFill>
          <a:ln/>
        </p:spPr>
      </p:sp>
      <p:sp>
        <p:nvSpPr>
          <p:cNvPr id="25" name="Shape 19"/>
          <p:cNvSpPr/>
          <p:nvPr/>
        </p:nvSpPr>
        <p:spPr>
          <a:xfrm>
            <a:off x="1097280" y="4919472"/>
            <a:ext cx="457200" cy="457200"/>
          </a:xfrm>
          <a:prstGeom prst="ellipse">
            <a:avLst/>
          </a:prstGeom>
          <a:solidFill>
            <a:srgbClr val="0E1A38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7008" y="5029200"/>
            <a:ext cx="237744" cy="23774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737360" y="472744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1737360" y="5093208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Dropship / print-on-demand → store + social ads</a:t>
            </a:r>
            <a:endParaRPr lang="en-US" sz="1250" dirty="0"/>
          </a:p>
        </p:txBody>
      </p:sp>
      <p:sp>
        <p:nvSpPr>
          <p:cNvPr id="29" name="Shape 22"/>
          <p:cNvSpPr/>
          <p:nvPr/>
        </p:nvSpPr>
        <p:spPr>
          <a:xfrm>
            <a:off x="6217920" y="4526280"/>
            <a:ext cx="5120640" cy="1188720"/>
          </a:xfrm>
          <a:prstGeom prst="roundRect">
            <a:avLst>
              <a:gd name="adj" fmla="val 6154"/>
            </a:avLst>
          </a:prstGeom>
          <a:solidFill>
            <a:srgbClr val="F4F7FB"/>
          </a:solidFill>
          <a:ln/>
        </p:spPr>
      </p:sp>
      <p:sp>
        <p:nvSpPr>
          <p:cNvPr id="30" name="Shape 23"/>
          <p:cNvSpPr/>
          <p:nvPr/>
        </p:nvSpPr>
        <p:spPr>
          <a:xfrm>
            <a:off x="6492240" y="4919472"/>
            <a:ext cx="457200" cy="457200"/>
          </a:xfrm>
          <a:prstGeom prst="ellipse">
            <a:avLst/>
          </a:prstGeom>
          <a:solidFill>
            <a:srgbClr val="0E1A38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1968" y="5029200"/>
            <a:ext cx="237744" cy="23774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132320" y="472744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Lead-gen / services</a:t>
            </a:r>
            <a:endParaRPr lang="en-US" sz="1600" dirty="0"/>
          </a:p>
        </p:txBody>
      </p:sp>
      <p:sp>
        <p:nvSpPr>
          <p:cNvPr id="33" name="Text 25"/>
          <p:cNvSpPr/>
          <p:nvPr/>
        </p:nvSpPr>
        <p:spPr>
          <a:xfrm>
            <a:off x="7132320" y="5093208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Niche leads → sell to businesses, or freelance offers</a:t>
            </a:r>
            <a:endParaRPr lang="en-US" sz="1250" dirty="0"/>
          </a:p>
        </p:txBody>
      </p:sp>
      <p:sp>
        <p:nvSpPr>
          <p:cNvPr id="34" name="Text 26"/>
          <p:cNvSpPr/>
          <p:nvPr/>
        </p:nvSpPr>
        <p:spPr>
          <a:xfrm>
            <a:off x="822960" y="585216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chain types: fully-automated (API connected) and guided-manual (we coach you step-by-step). Every template is proven before it goes live.</a:t>
            </a:r>
            <a:endParaRPr lang="en-US" sz="1250" dirty="0"/>
          </a:p>
        </p:txBody>
      </p:sp>
      <p:sp>
        <p:nvSpPr>
          <p:cNvPr id="35" name="Text 27"/>
          <p:cNvSpPr/>
          <p:nvPr/>
        </p:nvSpPr>
        <p:spPr>
          <a:xfrm>
            <a:off x="822960" y="6419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MoneyChains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15568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A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CONNECT SAFELY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0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never store passwords. Ever.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5120640" cy="1828800"/>
          </a:xfrm>
          <a:prstGeom prst="roundRect">
            <a:avLst>
              <a:gd name="adj" fmla="val 5000"/>
            </a:avLst>
          </a:prstGeom>
          <a:solidFill>
            <a:srgbClr val="FBE3D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01168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45920" y="202996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2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wrong way (what kills startups)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097280" y="251460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7A3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Collecting users’ raw passwords. Breaks with 2FA, violates platform rules, makes you a hacker target, and invites lawsuits. One breach = company dead.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217920" y="1783080"/>
            <a:ext cx="5120640" cy="1828800"/>
          </a:xfrm>
          <a:prstGeom prst="roundRect">
            <a:avLst>
              <a:gd name="adj" fmla="val 5000"/>
            </a:avLst>
          </a:prstGeom>
          <a:solidFill>
            <a:srgbClr val="0E1A38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01168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040880" y="202996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D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way — OAuth tokens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6492240" y="251460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logs in on the platform’s own page; we get a secure “permission token,” not the password. Works with 2FA, fully compliant, revocable anytime — exactly how Buffer &amp; Zapier do it.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822960" y="388620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platform falls into one of three buckets — our templates respect this: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822960" y="4343400"/>
            <a:ext cx="3337560" cy="1600200"/>
          </a:xfrm>
          <a:prstGeom prst="roundRect">
            <a:avLst>
              <a:gd name="adj" fmla="val 4571"/>
            </a:avLst>
          </a:prstGeom>
          <a:solidFill>
            <a:srgbClr val="F4F7FB"/>
          </a:solidFill>
          <a:ln/>
        </p:spPr>
      </p:sp>
      <p:sp>
        <p:nvSpPr>
          <p:cNvPr id="14" name="Text 10"/>
          <p:cNvSpPr/>
          <p:nvPr/>
        </p:nvSpPr>
        <p:spPr>
          <a:xfrm>
            <a:off x="1051560" y="44805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A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(best)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1051560" y="482803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i="1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Pinterest, Google, Instagram, TikTok, Shopify, Stripe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1051560" y="541324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32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Auto-post + auto-track. Full automation.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4434840" y="4343400"/>
            <a:ext cx="3337560" cy="1600200"/>
          </a:xfrm>
          <a:prstGeom prst="roundRect">
            <a:avLst>
              <a:gd name="adj" fmla="val 4571"/>
            </a:avLst>
          </a:prstGeom>
          <a:solidFill>
            <a:srgbClr val="F4F7FB"/>
          </a:solidFill>
          <a:ln/>
        </p:spPr>
      </p:sp>
      <p:sp>
        <p:nvSpPr>
          <p:cNvPr id="18" name="Text 14"/>
          <p:cNvSpPr/>
          <p:nvPr/>
        </p:nvSpPr>
        <p:spPr>
          <a:xfrm>
            <a:off x="4663440" y="44805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A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 / ID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4663440" y="482803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i="1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Associates, affiliate networks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4663440" y="541324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32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sales, insert links. Semi-auto.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8046720" y="4343400"/>
            <a:ext cx="3337560" cy="1600200"/>
          </a:xfrm>
          <a:prstGeom prst="roundRect">
            <a:avLst>
              <a:gd name="adj" fmla="val 4571"/>
            </a:avLst>
          </a:prstGeom>
          <a:solidFill>
            <a:srgbClr val="F4F7FB"/>
          </a:solidFill>
          <a:ln/>
        </p:spPr>
      </p:sp>
      <p:sp>
        <p:nvSpPr>
          <p:cNvPr id="22" name="Text 18"/>
          <p:cNvSpPr/>
          <p:nvPr/>
        </p:nvSpPr>
        <p:spPr>
          <a:xfrm>
            <a:off x="8275320" y="44805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A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Manual-only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8275320" y="482803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i="1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Niche sites, Google ranking (SEO)</a:t>
            </a:r>
            <a:endParaRPr lang="en-US" sz="1150" dirty="0"/>
          </a:p>
        </p:txBody>
      </p:sp>
      <p:sp>
        <p:nvSpPr>
          <p:cNvPr id="24" name="Text 20"/>
          <p:cNvSpPr/>
          <p:nvPr/>
        </p:nvSpPr>
        <p:spPr>
          <a:xfrm>
            <a:off x="8275320" y="541324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32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guide + track. No automation possible.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822960" y="6419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MoneyChains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1115568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A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0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ways to earn — we stack them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5074920" cy="1508760"/>
          </a:xfrm>
          <a:prstGeom prst="roundRect">
            <a:avLst>
              <a:gd name="adj" fmla="val 6061"/>
            </a:avLst>
          </a:prstGeom>
          <a:solidFill>
            <a:srgbClr val="0E1A38"/>
          </a:solidFill>
          <a:ln/>
          <a:effectLst>
            <a:outerShdw sx="100000" sy="100000" kx="0" ky="0" algn="bl" rotWithShape="0" blurRad="114300" dist="38100" dir="5400000">
              <a:srgbClr val="0E1A38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15568" y="2377440"/>
            <a:ext cx="548640" cy="548640"/>
          </a:xfrm>
          <a:prstGeom prst="ellipse">
            <a:avLst/>
          </a:prstGeom>
          <a:solidFill>
            <a:srgbClr val="02A37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3584" y="2505456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74520" y="213055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D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874520" y="251460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 SaaS: Free → ₹999 → ₹2,499 → Agency. Predictable monthly revenue (MRR).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17920" y="1874520"/>
            <a:ext cx="5074920" cy="1508760"/>
          </a:xfrm>
          <a:prstGeom prst="roundRect">
            <a:avLst>
              <a:gd name="adj" fmla="val 6061"/>
            </a:avLst>
          </a:prstGeom>
          <a:solidFill>
            <a:srgbClr val="0E1A38"/>
          </a:solidFill>
          <a:ln/>
          <a:effectLst>
            <a:outerShdw sx="100000" sy="100000" kx="0" ky="0" algn="bl" rotWithShape="0" blurRad="114300" dist="38100" dir="5400000">
              <a:srgbClr val="0E1A38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10528" y="2377440"/>
            <a:ext cx="548640" cy="548640"/>
          </a:xfrm>
          <a:prstGeom prst="ellipse">
            <a:avLst/>
          </a:prstGeom>
          <a:solidFill>
            <a:srgbClr val="02A37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8544" y="2505456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69480" y="213055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D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credits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7269480" y="251460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generation + automation runs metered above plan limits — protects our margins.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22960" y="3611880"/>
            <a:ext cx="5074920" cy="1508760"/>
          </a:xfrm>
          <a:prstGeom prst="roundRect">
            <a:avLst>
              <a:gd name="adj" fmla="val 6061"/>
            </a:avLst>
          </a:prstGeom>
          <a:solidFill>
            <a:srgbClr val="0E1A38"/>
          </a:solidFill>
          <a:ln/>
          <a:effectLst>
            <a:outerShdw sx="100000" sy="100000" kx="0" ky="0" algn="bl" rotWithShape="0" blurRad="114300" dist="38100" dir="5400000">
              <a:srgbClr val="0E1A38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1115568" y="4114800"/>
            <a:ext cx="548640" cy="548640"/>
          </a:xfrm>
          <a:prstGeom prst="ellipse">
            <a:avLst/>
          </a:prstGeom>
          <a:solidFill>
            <a:srgbClr val="02A37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3584" y="4242816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74520" y="386791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D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Affiliate override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1874520" y="425196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sub-affiliate cut paid by networks — never taken from the user’s earnings.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217920" y="3611880"/>
            <a:ext cx="5074920" cy="1508760"/>
          </a:xfrm>
          <a:prstGeom prst="roundRect">
            <a:avLst>
              <a:gd name="adj" fmla="val 6061"/>
            </a:avLst>
          </a:prstGeom>
          <a:solidFill>
            <a:srgbClr val="0E1A38"/>
          </a:solidFill>
          <a:ln/>
          <a:effectLst>
            <a:outerShdw sx="100000" sy="100000" kx="0" ky="0" algn="bl" rotWithShape="0" blurRad="114300" dist="38100" dir="5400000">
              <a:srgbClr val="0E1A38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10528" y="4114800"/>
            <a:ext cx="548640" cy="548640"/>
          </a:xfrm>
          <a:prstGeom prst="ellipse">
            <a:avLst/>
          </a:prstGeom>
          <a:solidFill>
            <a:srgbClr val="02A37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8544" y="4242816"/>
            <a:ext cx="292608" cy="2926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69480" y="386791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D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marketplace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7269480" y="425196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users publish &amp; sell their proven chains; we take 20–30% (V2).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822960" y="553212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02A3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“We win when our users win” — the affiliate override means revenue grows with their success, not our effort.</a:t>
            </a:r>
            <a:endParaRPr lang="en-US" sz="1450" dirty="0"/>
          </a:p>
        </p:txBody>
      </p:sp>
      <p:sp>
        <p:nvSpPr>
          <p:cNvPr id="25" name="Text 19"/>
          <p:cNvSpPr/>
          <p:nvPr/>
        </p:nvSpPr>
        <p:spPr>
          <a:xfrm>
            <a:off x="822960" y="6419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MoneyChains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15568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A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METRIC THAT MATTERS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0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Everything depends on time-to-first-earning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5120640" cy="676656"/>
          </a:xfrm>
          <a:prstGeom prst="roundRect">
            <a:avLst>
              <a:gd name="adj" fmla="val 8108"/>
            </a:avLst>
          </a:prstGeom>
          <a:solidFill>
            <a:srgbClr val="F4F7FB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920240"/>
            <a:ext cx="4206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up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983480" y="1920240"/>
            <a:ext cx="822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32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22960" y="2724912"/>
            <a:ext cx="4480560" cy="676656"/>
          </a:xfrm>
          <a:prstGeom prst="roundRect">
            <a:avLst>
              <a:gd name="adj" fmla="val 8108"/>
            </a:avLst>
          </a:prstGeom>
          <a:solidFill>
            <a:srgbClr val="CBE9DD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724912"/>
            <a:ext cx="3566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a chain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343400" y="2724912"/>
            <a:ext cx="822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32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3529584"/>
            <a:ext cx="3840480" cy="676656"/>
          </a:xfrm>
          <a:prstGeom prst="roundRect">
            <a:avLst>
              <a:gd name="adj" fmla="val 8108"/>
            </a:avLst>
          </a:prstGeom>
          <a:solidFill>
            <a:srgbClr val="7FD6B5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3529584"/>
            <a:ext cx="2926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703320" y="3529584"/>
            <a:ext cx="822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32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" y="4334256"/>
            <a:ext cx="3200400" cy="676656"/>
          </a:xfrm>
          <a:prstGeom prst="roundRect">
            <a:avLst>
              <a:gd name="adj" fmla="val 8108"/>
            </a:avLst>
          </a:prstGeom>
          <a:solidFill>
            <a:srgbClr val="02A37A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4334256"/>
            <a:ext cx="2286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₹ earned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063240" y="4334256"/>
            <a:ext cx="822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2960" y="5138928"/>
            <a:ext cx="2560320" cy="676656"/>
          </a:xfrm>
          <a:prstGeom prst="roundRect">
            <a:avLst>
              <a:gd name="adj" fmla="val 8108"/>
            </a:avLst>
          </a:prstGeom>
          <a:solidFill>
            <a:srgbClr val="0E1A38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5138928"/>
            <a:ext cx="1645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Becomes a paying, retained user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2423160" y="5138928"/>
            <a:ext cx="822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LTV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680960" y="1874520"/>
            <a:ext cx="3611880" cy="3749040"/>
          </a:xfrm>
          <a:prstGeom prst="roundRect">
            <a:avLst>
              <a:gd name="adj" fmla="val 2532"/>
            </a:avLst>
          </a:prstGeom>
          <a:solidFill>
            <a:srgbClr val="F4F7FB"/>
          </a:solidFill>
          <a:ln/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2103120"/>
            <a:ext cx="457200" cy="45720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7955280" y="26517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the whole game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7955280" y="3108960"/>
            <a:ext cx="31546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“Make money” tools die from churn — users quit before their first win.</a:t>
            </a:r>
            <a:endParaRPr lang="en-US" sz="1200" dirty="0"/>
          </a:p>
          <a:p>
            <a:pPr marL="177800" indent="-1778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they earn fast, they stay → LTV climbs → LTV &gt; 3× CAC works.</a:t>
            </a:r>
            <a:endParaRPr lang="en-US" sz="1200" dirty="0"/>
          </a:p>
          <a:p>
            <a:pPr marL="177800" indent="-1778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product is engineered for one thing: a fast, real first ₹.</a:t>
            </a:r>
            <a:endParaRPr lang="en-US" sz="1200" dirty="0"/>
          </a:p>
          <a:p>
            <a:pPr marL="177800" indent="-1778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CAC: the templates themselves are our marketing (content + word-of-mouth).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822960" y="6419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MoneyChains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15568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7D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Integrations get copied. Our data can’t.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10515600" cy="1920240"/>
          </a:xfrm>
          <a:prstGeom prst="roundRect">
            <a:avLst>
              <a:gd name="adj" fmla="val 4762"/>
            </a:avLst>
          </a:prstGeom>
          <a:solidFill>
            <a:srgbClr val="16264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24028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83080" y="2212848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7D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data — our compounding moat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143000" y="2743200"/>
            <a:ext cx="9875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become the only platform that knows which chains actually earn, for whom, and how fast. A competitor can clone our 50 templates — but has zero idea which ones work. That dataset grows with every user and powers AI recommendations no rival can match.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22960" y="4069080"/>
            <a:ext cx="3337560" cy="1828800"/>
          </a:xfrm>
          <a:prstGeom prst="roundRect">
            <a:avLst>
              <a:gd name="adj" fmla="val 5000"/>
            </a:avLst>
          </a:prstGeom>
          <a:solidFill>
            <a:srgbClr val="16264F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4315968"/>
            <a:ext cx="384048" cy="3840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00200" y="431596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Switching cost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097280" y="4864608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accounts, earning history &amp; live chains — leaving means rebuilding everything.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434840" y="4069080"/>
            <a:ext cx="3337560" cy="1828800"/>
          </a:xfrm>
          <a:prstGeom prst="roundRect">
            <a:avLst>
              <a:gd name="adj" fmla="val 5000"/>
            </a:avLst>
          </a:prstGeom>
          <a:solidFill>
            <a:srgbClr val="16264F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4315968"/>
            <a:ext cx="384048" cy="38404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212080" y="431596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effect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4709160" y="4864608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creator marketplace becomes a two-sided flywheel that’s very hard to cold-start twice.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8046720" y="4069080"/>
            <a:ext cx="3337560" cy="1828800"/>
          </a:xfrm>
          <a:prstGeom prst="roundRect">
            <a:avLst>
              <a:gd name="adj" fmla="val 5000"/>
            </a:avLst>
          </a:prstGeom>
          <a:solidFill>
            <a:srgbClr val="16264F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4315968"/>
            <a:ext cx="384048" cy="38404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823960" y="431596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brand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8321040" y="4864608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Being the honest, it-actually-works name in a scam-filled niche is a soft moat rivals can’t fake.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822960" y="6419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E8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MoneyChains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1115568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A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0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Riding the creator &amp; passive-income wave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5852160" cy="1143000"/>
          </a:xfrm>
          <a:prstGeom prst="roundRect">
            <a:avLst>
              <a:gd name="adj" fmla="val 6400"/>
            </a:avLst>
          </a:prstGeom>
          <a:solidFill>
            <a:srgbClr val="0E1A38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206654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7D8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TAM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97280" y="2578608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creator economy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720840" y="21945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320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~$250B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22960" y="3200400"/>
            <a:ext cx="4572000" cy="1143000"/>
          </a:xfrm>
          <a:prstGeom prst="roundRect">
            <a:avLst>
              <a:gd name="adj" fmla="val 6400"/>
            </a:avLst>
          </a:prstGeom>
          <a:solidFill>
            <a:srgbClr val="16264F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334670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7D8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097280" y="385876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seeking online income with a skill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40680" y="34747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320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~$40B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822960" y="4480560"/>
            <a:ext cx="3291840" cy="1143000"/>
          </a:xfrm>
          <a:prstGeom prst="roundRect">
            <a:avLst>
              <a:gd name="adj" fmla="val 6400"/>
            </a:avLst>
          </a:prstGeom>
          <a:solidFill>
            <a:srgbClr val="02A37A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462686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SOM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097280" y="513892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reachable users in 3–5 yrs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60520" y="47548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A3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~$1.5B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8321040" y="1920240"/>
            <a:ext cx="2971800" cy="3703320"/>
          </a:xfrm>
          <a:prstGeom prst="roundRect">
            <a:avLst>
              <a:gd name="adj" fmla="val 3077"/>
            </a:avLst>
          </a:prstGeom>
          <a:solidFill>
            <a:srgbClr val="F4F7FB"/>
          </a:solidFill>
          <a:ln/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0" y="2148840"/>
            <a:ext cx="457200" cy="45720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8595360" y="26974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Tailwinds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8595360" y="3154680"/>
            <a:ext cx="2514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200M+ creators worldwide, growing fast.</a:t>
            </a:r>
            <a:endParaRPr lang="en-US" sz="1200" dirty="0"/>
          </a:p>
          <a:p>
            <a:pPr marL="177800" indent="-1778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slashes the cost of content creation.</a:t>
            </a:r>
            <a:endParaRPr lang="en-US" sz="1200" dirty="0"/>
          </a:p>
          <a:p>
            <a:pPr marL="177800" indent="-1778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Gig &amp; side-income demand at record highs.</a:t>
            </a:r>
            <a:endParaRPr lang="en-US" sz="1200" dirty="0"/>
          </a:p>
          <a:p>
            <a:pPr marL="177800" indent="-1778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+ emerging markets vastly under-served.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822960" y="589788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are industry estimates, illustrative — to be validated with primary research.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822960" y="6419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MoneyChains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15568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A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0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Everyone solves one piece. We connect the journey.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87452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0" y="18745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32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chain</a:t>
            </a:r>
            <a:endParaRPr lang="en-US" sz="12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32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760720" y="18745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32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</a:t>
            </a:r>
            <a:endParaRPr lang="en-US" sz="12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32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863840" y="18745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32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Guides to</a:t>
            </a:r>
            <a:endParaRPr lang="en-US" sz="12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32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₹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966960" y="18745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32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real</a:t>
            </a:r>
            <a:endParaRPr lang="en-US" sz="12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32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2560320"/>
            <a:ext cx="10972800" cy="603504"/>
          </a:xfrm>
          <a:prstGeom prst="roundRect">
            <a:avLst>
              <a:gd name="adj" fmla="val 9091"/>
            </a:avLst>
          </a:prstGeom>
          <a:solidFill>
            <a:srgbClr val="F4F7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560320"/>
            <a:ext cx="2834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Courses / gurus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657600" y="2560320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6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760720" y="2560320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6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863840" y="2560320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6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966960" y="2560320"/>
            <a:ext cx="1828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6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22960" y="3273552"/>
            <a:ext cx="1097280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3273552"/>
            <a:ext cx="2834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Zapier / Make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657600" y="3273552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6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6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65976" y="3429000"/>
            <a:ext cx="292608" cy="292608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7863840" y="3273552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6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9966960" y="3273552"/>
            <a:ext cx="1828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6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822960" y="3986784"/>
            <a:ext cx="10972800" cy="603504"/>
          </a:xfrm>
          <a:prstGeom prst="roundRect">
            <a:avLst>
              <a:gd name="adj" fmla="val 9091"/>
            </a:avLst>
          </a:prstGeom>
          <a:solidFill>
            <a:srgbClr val="F4F7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60120" y="3986784"/>
            <a:ext cx="2834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 / Hootsuite</a:t>
            </a:r>
            <a:endParaRPr lang="en-US" sz="1350" dirty="0"/>
          </a:p>
        </p:txBody>
      </p:sp>
      <p:sp>
        <p:nvSpPr>
          <p:cNvPr id="23" name="Text 20"/>
          <p:cNvSpPr/>
          <p:nvPr/>
        </p:nvSpPr>
        <p:spPr>
          <a:xfrm>
            <a:off x="3657600" y="3986784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6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600" dirty="0"/>
          </a:p>
        </p:txBody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5976" y="4142232"/>
            <a:ext cx="292608" cy="292608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7863840" y="3986784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6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600" dirty="0"/>
          </a:p>
        </p:txBody>
      </p:sp>
      <p:sp>
        <p:nvSpPr>
          <p:cNvPr id="26" name="Text 22"/>
          <p:cNvSpPr/>
          <p:nvPr/>
        </p:nvSpPr>
        <p:spPr>
          <a:xfrm>
            <a:off x="9966960" y="3986784"/>
            <a:ext cx="1828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6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600" dirty="0"/>
          </a:p>
        </p:txBody>
      </p:sp>
      <p:sp>
        <p:nvSpPr>
          <p:cNvPr id="27" name="Shape 23"/>
          <p:cNvSpPr/>
          <p:nvPr/>
        </p:nvSpPr>
        <p:spPr>
          <a:xfrm>
            <a:off x="822960" y="4700016"/>
            <a:ext cx="1097280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960120" y="4700016"/>
            <a:ext cx="2834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Link-in-bio (Beacons)</a:t>
            </a:r>
            <a:endParaRPr lang="en-US" sz="1350" dirty="0"/>
          </a:p>
        </p:txBody>
      </p:sp>
      <p:sp>
        <p:nvSpPr>
          <p:cNvPr id="29" name="Text 25"/>
          <p:cNvSpPr/>
          <p:nvPr/>
        </p:nvSpPr>
        <p:spPr>
          <a:xfrm>
            <a:off x="3657600" y="4700016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6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600" dirty="0"/>
          </a:p>
        </p:txBody>
      </p:sp>
      <p:sp>
        <p:nvSpPr>
          <p:cNvPr id="30" name="Text 26"/>
          <p:cNvSpPr/>
          <p:nvPr/>
        </p:nvSpPr>
        <p:spPr>
          <a:xfrm>
            <a:off x="5760720" y="4700016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7863840" y="4700016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6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600" dirty="0"/>
          </a:p>
        </p:txBody>
      </p:sp>
      <p:sp>
        <p:nvSpPr>
          <p:cNvPr id="32" name="Text 28"/>
          <p:cNvSpPr/>
          <p:nvPr/>
        </p:nvSpPr>
        <p:spPr>
          <a:xfrm>
            <a:off x="9966960" y="4700016"/>
            <a:ext cx="1828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100" dirty="0"/>
          </a:p>
        </p:txBody>
      </p:sp>
      <p:sp>
        <p:nvSpPr>
          <p:cNvPr id="33" name="Shape 29"/>
          <p:cNvSpPr/>
          <p:nvPr/>
        </p:nvSpPr>
        <p:spPr>
          <a:xfrm>
            <a:off x="822960" y="5413248"/>
            <a:ext cx="10972800" cy="603504"/>
          </a:xfrm>
          <a:prstGeom prst="roundRect">
            <a:avLst>
              <a:gd name="adj" fmla="val 9091"/>
            </a:avLst>
          </a:prstGeom>
          <a:solidFill>
            <a:srgbClr val="02A37A"/>
          </a:solidFill>
          <a:ln w="12700">
            <a:solidFill>
              <a:srgbClr val="02A37A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960120" y="5413248"/>
            <a:ext cx="2834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MoneyChains</a:t>
            </a:r>
            <a:endParaRPr lang="en-US" sz="1350" dirty="0"/>
          </a:p>
        </p:txBody>
      </p:sp>
      <p:pic>
        <p:nvPicPr>
          <p:cNvPr id="3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2856" y="5568696"/>
            <a:ext cx="292608" cy="292608"/>
          </a:xfrm>
          <a:prstGeom prst="rect">
            <a:avLst/>
          </a:prstGeom>
        </p:spPr>
      </p:pic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5976" y="5568696"/>
            <a:ext cx="292608" cy="292608"/>
          </a:xfrm>
          <a:prstGeom prst="rect">
            <a:avLst/>
          </a:prstGeom>
        </p:spPr>
      </p:pic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9096" y="5568696"/>
            <a:ext cx="292608" cy="292608"/>
          </a:xfrm>
          <a:prstGeom prst="rect">
            <a:avLst/>
          </a:prstGeom>
        </p:spPr>
      </p:pic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35056" y="5568696"/>
            <a:ext cx="292608" cy="292608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822960" y="6419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MoneyChains</a:t>
            </a:r>
            <a:endParaRPr lang="en-US" sz="900" dirty="0"/>
          </a:p>
        </p:txBody>
      </p:sp>
      <p:sp>
        <p:nvSpPr>
          <p:cNvPr id="40" name="Text 32"/>
          <p:cNvSpPr/>
          <p:nvPr/>
        </p:nvSpPr>
        <p:spPr>
          <a:xfrm>
            <a:off x="1115568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A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0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Get the first 1,000 users without burning cash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5074920" cy="1645920"/>
          </a:xfrm>
          <a:prstGeom prst="roundRect">
            <a:avLst>
              <a:gd name="adj" fmla="val 5556"/>
            </a:avLst>
          </a:prstGeom>
          <a:solidFill>
            <a:srgbClr val="F4F7FB"/>
          </a:solidFill>
          <a:ln/>
        </p:spPr>
      </p:sp>
      <p:sp>
        <p:nvSpPr>
          <p:cNvPr id="5" name="Shape 3"/>
          <p:cNvSpPr/>
          <p:nvPr/>
        </p:nvSpPr>
        <p:spPr>
          <a:xfrm>
            <a:off x="1097280" y="2167128"/>
            <a:ext cx="548640" cy="548640"/>
          </a:xfrm>
          <a:prstGeom prst="ellipse">
            <a:avLst/>
          </a:prstGeom>
          <a:solidFill>
            <a:srgbClr val="0E1A3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5296" y="2295144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3055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as the product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chains double as SEO/social content — show real results, attract people searching “how to make money with X.”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17920" y="1874520"/>
            <a:ext cx="5074920" cy="1645920"/>
          </a:xfrm>
          <a:prstGeom prst="roundRect">
            <a:avLst>
              <a:gd name="adj" fmla="val 5556"/>
            </a:avLst>
          </a:prstGeom>
          <a:solidFill>
            <a:srgbClr val="F4F7FB"/>
          </a:solidFill>
          <a:ln/>
        </p:spPr>
      </p:sp>
      <p:sp>
        <p:nvSpPr>
          <p:cNvPr id="10" name="Shape 7"/>
          <p:cNvSpPr/>
          <p:nvPr/>
        </p:nvSpPr>
        <p:spPr>
          <a:xfrm>
            <a:off x="6492240" y="2167128"/>
            <a:ext cx="548640" cy="548640"/>
          </a:xfrm>
          <a:prstGeom prst="ellipse">
            <a:avLst/>
          </a:prstGeom>
          <a:solidFill>
            <a:srgbClr val="0E1A3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0256" y="2295144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23760" y="213055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+ word-of-mouth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223760" y="2532888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earnings leaderboards &amp; success stories turn winners into recruiters. Lowest-cost channel.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22960" y="3749040"/>
            <a:ext cx="5074920" cy="1645920"/>
          </a:xfrm>
          <a:prstGeom prst="roundRect">
            <a:avLst>
              <a:gd name="adj" fmla="val 5556"/>
            </a:avLst>
          </a:prstGeom>
          <a:solidFill>
            <a:srgbClr val="F4F7FB"/>
          </a:solidFill>
          <a:ln/>
        </p:spPr>
      </p:sp>
      <p:sp>
        <p:nvSpPr>
          <p:cNvPr id="15" name="Shape 11"/>
          <p:cNvSpPr/>
          <p:nvPr/>
        </p:nvSpPr>
        <p:spPr>
          <a:xfrm>
            <a:off x="1097280" y="4041648"/>
            <a:ext cx="548640" cy="548640"/>
          </a:xfrm>
          <a:prstGeom prst="ellipse">
            <a:avLst/>
          </a:prstGeom>
          <a:solidFill>
            <a:srgbClr val="0E1A38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5296" y="4169664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00507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 partnerships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828800" y="4407408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Co-create signature chains with mid-tier creators; they bring their audience, we power the engine.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217920" y="3749040"/>
            <a:ext cx="5074920" cy="1645920"/>
          </a:xfrm>
          <a:prstGeom prst="roundRect">
            <a:avLst>
              <a:gd name="adj" fmla="val 5556"/>
            </a:avLst>
          </a:prstGeom>
          <a:solidFill>
            <a:srgbClr val="F4F7FB"/>
          </a:solidFill>
          <a:ln/>
        </p:spPr>
      </p:sp>
      <p:sp>
        <p:nvSpPr>
          <p:cNvPr id="20" name="Shape 15"/>
          <p:cNvSpPr/>
          <p:nvPr/>
        </p:nvSpPr>
        <p:spPr>
          <a:xfrm>
            <a:off x="6492240" y="4041648"/>
            <a:ext cx="548640" cy="548640"/>
          </a:xfrm>
          <a:prstGeom prst="ellipse">
            <a:avLst/>
          </a:prstGeom>
          <a:solidFill>
            <a:srgbClr val="0E1A38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0256" y="4169664"/>
            <a:ext cx="292608" cy="2926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23760" y="400507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Land-and-expand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7223760" y="4407408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free → upgrade when earning → upsell automation &amp; marketplace. CAC paid back by retained MRR.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822960" y="566928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A3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Acquisition cost stays low because the product creates its own proof — every user’s win is marketing.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822960" y="6419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MoneyChains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15568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A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0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 → platform → the income rail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3337560" cy="3931920"/>
          </a:xfrm>
          <a:prstGeom prst="roundRect">
            <a:avLst>
              <a:gd name="adj" fmla="val 2740"/>
            </a:avLst>
          </a:prstGeom>
          <a:solidFill>
            <a:srgbClr val="F4F7FB"/>
          </a:solidFill>
          <a:ln/>
          <a:effectLst>
            <a:outerShdw sx="100000" sy="100000" kx="0" ky="0" algn="bl" rotWithShape="0" blurRad="114300" dist="38100" dir="5400000">
              <a:srgbClr val="0E1A38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43000" y="2194560"/>
            <a:ext cx="731520" cy="731520"/>
          </a:xfrm>
          <a:prstGeom prst="ellipse">
            <a:avLst/>
          </a:prstGeom>
          <a:solidFill>
            <a:srgbClr val="02A37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4168" y="239572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30632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A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· The Wedge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143000" y="3520440"/>
            <a:ext cx="2743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a few focused chains end-to-end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connect + AI content + auto-publish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earnings dashboard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% earning within 30 days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434840" y="1874520"/>
            <a:ext cx="3337560" cy="3931920"/>
          </a:xfrm>
          <a:prstGeom prst="roundRect">
            <a:avLst>
              <a:gd name="adj" fmla="val 2740"/>
            </a:avLst>
          </a:prstGeom>
          <a:solidFill>
            <a:srgbClr val="0E1A38"/>
          </a:solidFill>
          <a:ln/>
        </p:spPr>
      </p:sp>
      <p:sp>
        <p:nvSpPr>
          <p:cNvPr id="10" name="Shape 7"/>
          <p:cNvSpPr/>
          <p:nvPr/>
        </p:nvSpPr>
        <p:spPr>
          <a:xfrm>
            <a:off x="4754880" y="2194560"/>
            <a:ext cx="731520" cy="731520"/>
          </a:xfrm>
          <a:prstGeom prst="ellipse">
            <a:avLst/>
          </a:prstGeom>
          <a:solidFill>
            <a:srgbClr val="27D8A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6048" y="239572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54880" y="30632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7D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· Scale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754880" y="3520440"/>
            <a:ext cx="2743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50+ template library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marketplace (users sell chains)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“Smart Recommend” AI from earnings data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Autopilot tiers + new verticals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46720" y="1874520"/>
            <a:ext cx="3337560" cy="3931920"/>
          </a:xfrm>
          <a:prstGeom prst="roundRect">
            <a:avLst>
              <a:gd name="adj" fmla="val 2740"/>
            </a:avLst>
          </a:prstGeom>
          <a:solidFill>
            <a:srgbClr val="16264F"/>
          </a:solidFill>
          <a:ln/>
        </p:spPr>
      </p:sp>
      <p:sp>
        <p:nvSpPr>
          <p:cNvPr id="15" name="Shape 11"/>
          <p:cNvSpPr/>
          <p:nvPr/>
        </p:nvSpPr>
        <p:spPr>
          <a:xfrm>
            <a:off x="8366760" y="2194560"/>
            <a:ext cx="731520" cy="731520"/>
          </a:xfrm>
          <a:prstGeom prst="ellipse">
            <a:avLst/>
          </a:prstGeom>
          <a:solidFill>
            <a:srgbClr val="27D8A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7928" y="2395728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66760" y="30632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7D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 · Income Rail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366760" y="3520440"/>
            <a:ext cx="2743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fintech: creator wallet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payouts on earnings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advances vs. proven income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/ white-label licensing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822960" y="6419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MoneyChains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15568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A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SNAPSHOT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0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Illustrative path — first three years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69164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(₹ Cr)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2057400"/>
          <a:ext cx="630936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406640" y="1874520"/>
            <a:ext cx="3931920" cy="1234440"/>
          </a:xfrm>
          <a:prstGeom prst="roundRect">
            <a:avLst>
              <a:gd name="adj" fmla="val 7407"/>
            </a:avLst>
          </a:prstGeom>
          <a:solidFill>
            <a:srgbClr val="F4F7FB"/>
          </a:solidFill>
          <a:ln/>
        </p:spPr>
      </p:sp>
      <p:sp>
        <p:nvSpPr>
          <p:cNvPr id="7" name="Text 4"/>
          <p:cNvSpPr/>
          <p:nvPr/>
        </p:nvSpPr>
        <p:spPr>
          <a:xfrm>
            <a:off x="7680960" y="1984248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A3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~250K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7680960" y="253288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by Year 3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680960" y="27889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(5K → 50K → 250K)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406640" y="3200400"/>
            <a:ext cx="3931920" cy="1234440"/>
          </a:xfrm>
          <a:prstGeom prst="roundRect">
            <a:avLst>
              <a:gd name="adj" fmla="val 7407"/>
            </a:avLst>
          </a:prstGeom>
          <a:solidFill>
            <a:srgbClr val="F4F7FB"/>
          </a:solidFill>
          <a:ln/>
        </p:spPr>
      </p:sp>
      <p:sp>
        <p:nvSpPr>
          <p:cNvPr id="11" name="Text 8"/>
          <p:cNvSpPr/>
          <p:nvPr/>
        </p:nvSpPr>
        <p:spPr>
          <a:xfrm>
            <a:off x="7680960" y="3310128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A3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8–12%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7680960" y="385876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to paying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680960" y="41148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lever that moves everything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406640" y="4526280"/>
            <a:ext cx="3931920" cy="1234440"/>
          </a:xfrm>
          <a:prstGeom prst="roundRect">
            <a:avLst>
              <a:gd name="adj" fmla="val 7407"/>
            </a:avLst>
          </a:prstGeom>
          <a:solidFill>
            <a:srgbClr val="F4F7FB"/>
          </a:solidFill>
          <a:ln/>
        </p:spPr>
      </p:sp>
      <p:sp>
        <p:nvSpPr>
          <p:cNvPr id="15" name="Text 12"/>
          <p:cNvSpPr/>
          <p:nvPr/>
        </p:nvSpPr>
        <p:spPr>
          <a:xfrm>
            <a:off x="7680960" y="4636008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A3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₹25 Cr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7680960" y="518464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run-rate exit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7680960" y="54406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+ usage + override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22960" y="5943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top-down model — placeholder numbers to replace with a bottom-up build-up. Key drivers: user growth, % paying, and revenue per user.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822960" y="6419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MoneyChains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15568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A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0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by a founder close to the problem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4937760" cy="3931920"/>
          </a:xfrm>
          <a:prstGeom prst="roundRect">
            <a:avLst>
              <a:gd name="adj" fmla="val 2326"/>
            </a:avLst>
          </a:prstGeom>
          <a:solidFill>
            <a:srgbClr val="0E1A38"/>
          </a:solidFill>
          <a:ln/>
          <a:effectLst>
            <a:outerShdw sx="100000" sy="100000" kx="0" ky="0" algn="bl" rotWithShape="0" blurRad="114300" dist="38100" dir="5400000">
              <a:srgbClr val="0E1A38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43000" y="2194560"/>
            <a:ext cx="1005840" cy="1005840"/>
          </a:xfrm>
          <a:prstGeom prst="ellipse">
            <a:avLst/>
          </a:prstGeom>
          <a:solidFill>
            <a:srgbClr val="16264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246888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377440" y="22860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Name]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2377440" y="276148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7D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CEO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2377440" y="307238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kam@gotoretreats.com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143000" y="3611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7D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143000" y="3931920"/>
            <a:ext cx="4343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[Add 2–3 lines: your edge — operator/building experience, why you understand this user, any unfair advantage or early traction.]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126480" y="1828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key hires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126480" y="2331720"/>
            <a:ext cx="5212080" cy="960120"/>
          </a:xfrm>
          <a:prstGeom prst="roundRect">
            <a:avLst>
              <a:gd name="adj" fmla="val 7619"/>
            </a:avLst>
          </a:prstGeom>
          <a:solidFill>
            <a:srgbClr val="F4F7FB"/>
          </a:solidFill>
          <a:ln/>
        </p:spPr>
      </p:sp>
      <p:sp>
        <p:nvSpPr>
          <p:cNvPr id="14" name="Shape 11"/>
          <p:cNvSpPr/>
          <p:nvPr/>
        </p:nvSpPr>
        <p:spPr>
          <a:xfrm>
            <a:off x="6355080" y="2606040"/>
            <a:ext cx="411480" cy="411480"/>
          </a:xfrm>
          <a:prstGeom prst="ellipse">
            <a:avLst/>
          </a:prstGeom>
          <a:solidFill>
            <a:srgbClr val="0E1A38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2697480"/>
            <a:ext cx="228600" cy="2286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903720" y="2478024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Founding Engineer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6903720" y="280720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the integration layer (OAuth, APIs, automation).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6126480" y="3429000"/>
            <a:ext cx="5212080" cy="960120"/>
          </a:xfrm>
          <a:prstGeom prst="roundRect">
            <a:avLst>
              <a:gd name="adj" fmla="val 7619"/>
            </a:avLst>
          </a:prstGeom>
          <a:solidFill>
            <a:srgbClr val="F4F7FB"/>
          </a:solidFill>
          <a:ln/>
        </p:spPr>
      </p:sp>
      <p:sp>
        <p:nvSpPr>
          <p:cNvPr id="19" name="Shape 15"/>
          <p:cNvSpPr/>
          <p:nvPr/>
        </p:nvSpPr>
        <p:spPr>
          <a:xfrm>
            <a:off x="6355080" y="3703320"/>
            <a:ext cx="411480" cy="411480"/>
          </a:xfrm>
          <a:prstGeom prst="ellipse">
            <a:avLst/>
          </a:prstGeom>
          <a:solidFill>
            <a:srgbClr val="0E1A38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3794760"/>
            <a:ext cx="228600" cy="2286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903720" y="3575304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Product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6903720" y="390448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content-generation engine and template tooling.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6126480" y="4526280"/>
            <a:ext cx="5212080" cy="960120"/>
          </a:xfrm>
          <a:prstGeom prst="roundRect">
            <a:avLst>
              <a:gd name="adj" fmla="val 7619"/>
            </a:avLst>
          </a:prstGeom>
          <a:solidFill>
            <a:srgbClr val="F4F7FB"/>
          </a:solidFill>
          <a:ln/>
        </p:spPr>
      </p:sp>
      <p:sp>
        <p:nvSpPr>
          <p:cNvPr id="24" name="Shape 19"/>
          <p:cNvSpPr/>
          <p:nvPr/>
        </p:nvSpPr>
        <p:spPr>
          <a:xfrm>
            <a:off x="6355080" y="4800600"/>
            <a:ext cx="411480" cy="411480"/>
          </a:xfrm>
          <a:prstGeom prst="ellipse">
            <a:avLst/>
          </a:prstGeom>
          <a:solidFill>
            <a:srgbClr val="0E1A38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4892040"/>
            <a:ext cx="228600" cy="22860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903720" y="4672584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&amp; Partnerships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6903720" y="500176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 deals, community, and low-cost acquisition.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6126480" y="56235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Advisors: [add names — ideally creator-economy, fintech, or growth operators].</a:t>
            </a:r>
            <a:endParaRPr lang="en-US" sz="1150" dirty="0"/>
          </a:p>
        </p:txBody>
      </p:sp>
      <p:sp>
        <p:nvSpPr>
          <p:cNvPr id="29" name="Text 23"/>
          <p:cNvSpPr/>
          <p:nvPr/>
        </p:nvSpPr>
        <p:spPr>
          <a:xfrm>
            <a:off x="822960" y="6419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MoneyChains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1115568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E1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81360" y="-914400"/>
            <a:ext cx="2743200" cy="2743200"/>
          </a:xfrm>
          <a:prstGeom prst="ellipse">
            <a:avLst/>
          </a:prstGeom>
          <a:solidFill>
            <a:srgbClr val="16264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4864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7D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896112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Raising ₹___ to prove the engine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1874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27D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of funds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2331720"/>
            <a:ext cx="5120640" cy="713232"/>
          </a:xfrm>
          <a:prstGeom prst="roundRect">
            <a:avLst>
              <a:gd name="adj" fmla="val 10256"/>
            </a:avLst>
          </a:prstGeom>
          <a:solidFill>
            <a:srgbClr val="16264F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238658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integrations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297680" y="2386584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27D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1051560" y="2788920"/>
            <a:ext cx="4754880" cy="109728"/>
          </a:xfrm>
          <a:prstGeom prst="roundRect">
            <a:avLst>
              <a:gd name="adj" fmla="val 50000"/>
            </a:avLst>
          </a:prstGeom>
          <a:solidFill>
            <a:srgbClr val="0E1A38"/>
          </a:solidFill>
          <a:ln/>
        </p:spPr>
      </p:sp>
      <p:sp>
        <p:nvSpPr>
          <p:cNvPr id="10" name="Shape 8"/>
          <p:cNvSpPr/>
          <p:nvPr/>
        </p:nvSpPr>
        <p:spPr>
          <a:xfrm>
            <a:off x="1051560" y="2788920"/>
            <a:ext cx="2139696" cy="109728"/>
          </a:xfrm>
          <a:prstGeom prst="roundRect">
            <a:avLst>
              <a:gd name="adj" fmla="val 50000"/>
            </a:avLst>
          </a:prstGeom>
          <a:solidFill>
            <a:srgbClr val="02A37A"/>
          </a:solidFill>
          <a:ln/>
        </p:spPr>
      </p:sp>
      <p:sp>
        <p:nvSpPr>
          <p:cNvPr id="11" name="Shape 9"/>
          <p:cNvSpPr/>
          <p:nvPr/>
        </p:nvSpPr>
        <p:spPr>
          <a:xfrm>
            <a:off x="822960" y="3172968"/>
            <a:ext cx="5120640" cy="713232"/>
          </a:xfrm>
          <a:prstGeom prst="roundRect">
            <a:avLst>
              <a:gd name="adj" fmla="val 10256"/>
            </a:avLst>
          </a:prstGeom>
          <a:solidFill>
            <a:srgbClr val="16264F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322783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infrastructure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297680" y="3227832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27D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1051560" y="3630168"/>
            <a:ext cx="4754880" cy="109728"/>
          </a:xfrm>
          <a:prstGeom prst="roundRect">
            <a:avLst>
              <a:gd name="adj" fmla="val 50000"/>
            </a:avLst>
          </a:prstGeom>
          <a:solidFill>
            <a:srgbClr val="0E1A38"/>
          </a:solidFill>
          <a:ln/>
        </p:spPr>
      </p:sp>
      <p:sp>
        <p:nvSpPr>
          <p:cNvPr id="15" name="Shape 13"/>
          <p:cNvSpPr/>
          <p:nvPr/>
        </p:nvSpPr>
        <p:spPr>
          <a:xfrm>
            <a:off x="1051560" y="3630168"/>
            <a:ext cx="950976" cy="109728"/>
          </a:xfrm>
          <a:prstGeom prst="roundRect">
            <a:avLst>
              <a:gd name="adj" fmla="val 50000"/>
            </a:avLst>
          </a:prstGeom>
          <a:solidFill>
            <a:srgbClr val="02A37A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4014216"/>
            <a:ext cx="5120640" cy="713232"/>
          </a:xfrm>
          <a:prstGeom prst="roundRect">
            <a:avLst>
              <a:gd name="adj" fmla="val 10256"/>
            </a:avLst>
          </a:prstGeom>
          <a:solidFill>
            <a:srgbClr val="16264F"/>
          </a:solidFill>
          <a:ln/>
        </p:spPr>
      </p:sp>
      <p:sp>
        <p:nvSpPr>
          <p:cNvPr id="17" name="Text 15"/>
          <p:cNvSpPr/>
          <p:nvPr/>
        </p:nvSpPr>
        <p:spPr>
          <a:xfrm>
            <a:off x="1051560" y="4069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/ first users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297680" y="406908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27D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1051560" y="4471416"/>
            <a:ext cx="4754880" cy="109728"/>
          </a:xfrm>
          <a:prstGeom prst="roundRect">
            <a:avLst>
              <a:gd name="adj" fmla="val 50000"/>
            </a:avLst>
          </a:prstGeom>
          <a:solidFill>
            <a:srgbClr val="0E1A38"/>
          </a:solidFill>
          <a:ln/>
        </p:spPr>
      </p:sp>
      <p:sp>
        <p:nvSpPr>
          <p:cNvPr id="20" name="Shape 18"/>
          <p:cNvSpPr/>
          <p:nvPr/>
        </p:nvSpPr>
        <p:spPr>
          <a:xfrm>
            <a:off x="1051560" y="4471416"/>
            <a:ext cx="1188720" cy="109728"/>
          </a:xfrm>
          <a:prstGeom prst="roundRect">
            <a:avLst>
              <a:gd name="adj" fmla="val 50000"/>
            </a:avLst>
          </a:prstGeom>
          <a:solidFill>
            <a:srgbClr val="02A37A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855464"/>
            <a:ext cx="5120640" cy="713232"/>
          </a:xfrm>
          <a:prstGeom prst="roundRect">
            <a:avLst>
              <a:gd name="adj" fmla="val 10256"/>
            </a:avLst>
          </a:prstGeom>
          <a:solidFill>
            <a:srgbClr val="16264F"/>
          </a:solidFill>
          <a:ln/>
        </p:spPr>
      </p:sp>
      <p:sp>
        <p:nvSpPr>
          <p:cNvPr id="22" name="Text 20"/>
          <p:cNvSpPr/>
          <p:nvPr/>
        </p:nvSpPr>
        <p:spPr>
          <a:xfrm>
            <a:off x="1051560" y="49103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&amp; ops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297680" y="4910328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27D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1051560" y="5312664"/>
            <a:ext cx="4754880" cy="109728"/>
          </a:xfrm>
          <a:prstGeom prst="roundRect">
            <a:avLst>
              <a:gd name="adj" fmla="val 50000"/>
            </a:avLst>
          </a:prstGeom>
          <a:solidFill>
            <a:srgbClr val="0E1A38"/>
          </a:solidFill>
          <a:ln/>
        </p:spPr>
      </p:sp>
      <p:sp>
        <p:nvSpPr>
          <p:cNvPr id="25" name="Shape 23"/>
          <p:cNvSpPr/>
          <p:nvPr/>
        </p:nvSpPr>
        <p:spPr>
          <a:xfrm>
            <a:off x="1051560" y="5312664"/>
            <a:ext cx="475488" cy="109728"/>
          </a:xfrm>
          <a:prstGeom prst="roundRect">
            <a:avLst>
              <a:gd name="adj" fmla="val 50000"/>
            </a:avLst>
          </a:prstGeom>
          <a:solidFill>
            <a:srgbClr val="02A37A"/>
          </a:solidFill>
          <a:ln/>
        </p:spPr>
      </p:sp>
      <p:sp>
        <p:nvSpPr>
          <p:cNvPr id="26" name="Shape 24"/>
          <p:cNvSpPr/>
          <p:nvPr/>
        </p:nvSpPr>
        <p:spPr>
          <a:xfrm>
            <a:off x="6309360" y="1874520"/>
            <a:ext cx="5029200" cy="3611880"/>
          </a:xfrm>
          <a:prstGeom prst="roundRect">
            <a:avLst>
              <a:gd name="adj" fmla="val 2532"/>
            </a:avLst>
          </a:prstGeom>
          <a:solidFill>
            <a:srgbClr val="16264F"/>
          </a:solidFill>
          <a:ln/>
        </p:spPr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2103120"/>
            <a:ext cx="411480" cy="41148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7086600" y="212140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D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milestone proves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6583680" y="2651760"/>
            <a:ext cx="44805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2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100 real users onboarded end-to-end</a:t>
            </a:r>
            <a:endParaRPr lang="en-US" sz="1400" dirty="0"/>
          </a:p>
          <a:p>
            <a:pPr marL="177800" indent="-177800">
              <a:lnSpc>
                <a:spcPct val="12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metric: % of users earning within 30 days</a:t>
            </a:r>
            <a:endParaRPr lang="en-US" sz="1400" dirty="0"/>
          </a:p>
          <a:p>
            <a:pPr marL="177800" indent="-177800">
              <a:lnSpc>
                <a:spcPct val="12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one chain producing repeatable income</a:t>
            </a:r>
            <a:endParaRPr lang="en-US" sz="1400" dirty="0"/>
          </a:p>
          <a:p>
            <a:pPr marL="177800" indent="-177800">
              <a:lnSpc>
                <a:spcPct val="12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retention + the first slice of our data moat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822960" y="5715000"/>
            <a:ext cx="10515600" cy="640080"/>
          </a:xfrm>
          <a:prstGeom prst="roundRect">
            <a:avLst>
              <a:gd name="adj" fmla="val 11429"/>
            </a:avLst>
          </a:prstGeom>
          <a:solidFill>
            <a:srgbClr val="02A37A"/>
          </a:solidFill>
          <a:ln/>
        </p:spPr>
      </p:sp>
      <p:sp>
        <p:nvSpPr>
          <p:cNvPr id="31" name="Text 28"/>
          <p:cNvSpPr/>
          <p:nvPr/>
        </p:nvSpPr>
        <p:spPr>
          <a:xfrm>
            <a:off x="1097280" y="57150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ONE chain works for ONE real user → then scale the catalog. That’s the whole plan.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822960" y="6419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E8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MoneyChains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115568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E1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937760"/>
            <a:ext cx="3108960" cy="3108960"/>
          </a:xfrm>
          <a:prstGeom prst="ellipse">
            <a:avLst/>
          </a:prstGeom>
          <a:solidFill>
            <a:srgbClr val="16264F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097280"/>
            <a:ext cx="3108960" cy="3108960"/>
          </a:xfrm>
          <a:prstGeom prst="ellipse">
            <a:avLst/>
          </a:prstGeom>
          <a:solidFill>
            <a:srgbClr val="16264F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28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7D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VISION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2377440"/>
            <a:ext cx="10607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start as a tool,
</a:t>
            </a:r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E8F0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become a platform,
</a:t>
            </a:r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27D8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end as the financial rail</a:t>
            </a:r>
            <a:endParaRPr lang="en-US" sz="3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27D8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the creator economy.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22960" y="50292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E8F0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MoneyChains — turning skills into income, one chain at a time.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5760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 ·  kam@gotoretreats.com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6419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E8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MoneyChains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5568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MoneyChains — Pitch Deck</dc:title>
  <dc:subject>PptxGenJS Presentation</dc:subject>
  <dc:creator>Founder</dc:creator>
  <cp:lastModifiedBy>Founder</cp:lastModifiedBy>
  <cp:revision>1</cp:revision>
  <dcterms:created xsi:type="dcterms:W3CDTF">2026-06-16T15:05:28Z</dcterms:created>
  <dcterms:modified xsi:type="dcterms:W3CDTF">2026-06-16T15:05:28Z</dcterms:modified>
</cp:coreProperties>
</file>